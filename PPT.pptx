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6" r:id="rId3"/>
    <p:sldId id="257" r:id="rId4"/>
    <p:sldId id="258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07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C475115-90A6-E7B2-8CFF-312D48FA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326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29570" y="0"/>
            <a:ext cx="3854809" cy="6858000"/>
          </a:xfrm>
          <a:prstGeom prst="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6F0E8"/>
                </a:solidFill>
                <a:latin typeface="Aptos Display"/>
              </a:defRPr>
            </a:pPr>
            <a:r>
              <a:t>GreenTrace ESG Data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CDE7D8"/>
                </a:solidFill>
                <a:latin typeface="Aptos"/>
              </a:defRPr>
            </a:pPr>
            <a:r>
              <a:t>Data Vault 2.0 warehousing, emissions analytics, secure service delivery, and interactive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799"/>
            <a:ext cx="6492240" cy="281935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6F0E8"/>
                </a:solidFill>
                <a:latin typeface="Aptos"/>
              </a:defRPr>
            </a:pPr>
            <a:r>
              <a:rPr dirty="0"/>
              <a:t>An ESG data platform engineered using Data Vault 2.0 as the core warehousing methodology.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6F0E8"/>
                </a:solidFill>
                <a:latin typeface="Aptos"/>
              </a:defRPr>
            </a:pPr>
            <a:r>
              <a:rPr dirty="0"/>
              <a:t>Converts operational records into auditable warehouse structures, derived emission events, and analytical decision-support views.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6F0E8"/>
                </a:solidFill>
                <a:latin typeface="Aptos"/>
              </a:defRPr>
            </a:pPr>
            <a:r>
              <a:rPr dirty="0"/>
              <a:t>Team focus: database design, ETL orchestration, service-layer engineering, visualization, integration, and security assurance.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924044"/>
            <a:ext cx="2148840" cy="1234440"/>
          </a:xfrm>
          <a:prstGeom prst="round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CDE7D8"/>
                </a:solidFill>
                <a:latin typeface="Aptos"/>
              </a:defRPr>
            </a:pPr>
            <a:r>
              <a:rPr dirty="0"/>
              <a:t>Warehouse Tables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22</a:t>
            </a:r>
          </a:p>
          <a:p>
            <a:pPr>
              <a:spcBef>
                <a:spcPts val="200"/>
              </a:spcBef>
              <a:defRPr sz="900">
                <a:solidFill>
                  <a:srgbClr val="CDE7D8"/>
                </a:solidFill>
                <a:latin typeface="Aptos"/>
              </a:defRPr>
            </a:pPr>
            <a:r>
              <a:rPr dirty="0"/>
              <a:t>Across vault, ledger, mart,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8940" y="4907257"/>
            <a:ext cx="2148840" cy="1234440"/>
          </a:xfrm>
          <a:prstGeom prst="round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CDE7D8"/>
                </a:solidFill>
                <a:latin typeface="Aptos"/>
              </a:defRPr>
            </a:pPr>
            <a:r>
              <a:rPr dirty="0"/>
              <a:t>Rows Processed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5,286</a:t>
            </a:r>
          </a:p>
          <a:p>
            <a:pPr>
              <a:spcBef>
                <a:spcPts val="200"/>
              </a:spcBef>
              <a:defRPr sz="900">
                <a:solidFill>
                  <a:srgbClr val="CDE7D8"/>
                </a:solidFill>
                <a:latin typeface="Aptos"/>
              </a:defRPr>
            </a:pPr>
            <a:r>
              <a:rPr dirty="0"/>
              <a:t>Validated ETL load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4933188"/>
            <a:ext cx="2148840" cy="1234440"/>
          </a:xfrm>
          <a:prstGeom prst="round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CDE7D8"/>
                </a:solidFill>
                <a:latin typeface="Aptos"/>
              </a:defRPr>
            </a:pPr>
            <a:r>
              <a:rPr dirty="0"/>
              <a:t>Total Emissions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42.55 tCO2e</a:t>
            </a:r>
          </a:p>
          <a:p>
            <a:pPr>
              <a:spcBef>
                <a:spcPts val="200"/>
              </a:spcBef>
              <a:defRPr sz="900">
                <a:solidFill>
                  <a:srgbClr val="CDE7D8"/>
                </a:solidFill>
                <a:latin typeface="Aptos"/>
              </a:defRPr>
            </a:pPr>
            <a:r>
              <a:rPr dirty="0"/>
              <a:t>Scope 2 + Scope 3 modeled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2368" y="1229527"/>
            <a:ext cx="3337560" cy="1280160"/>
          </a:xfrm>
          <a:prstGeom prst="round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CDE7D8"/>
                </a:solidFill>
                <a:latin typeface="Aptos"/>
              </a:defRPr>
            </a:pPr>
            <a:r>
              <a:rPr dirty="0"/>
              <a:t>Current Snapshot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2026 Q1</a:t>
            </a:r>
          </a:p>
          <a:p>
            <a:pPr>
              <a:spcBef>
                <a:spcPts val="200"/>
              </a:spcBef>
              <a:defRPr sz="900">
                <a:solidFill>
                  <a:srgbClr val="CDE7D8"/>
                </a:solidFill>
                <a:latin typeface="Aptos"/>
              </a:defRPr>
            </a:pPr>
            <a:r>
              <a:rPr dirty="0"/>
              <a:t>25 facilities | 100 meters | 40 shipments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88194" y="2763603"/>
            <a:ext cx="3337560" cy="1280160"/>
          </a:xfrm>
          <a:prstGeom prst="round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CDE7D8"/>
                </a:solidFill>
                <a:latin typeface="Aptos"/>
              </a:defRPr>
            </a:pPr>
            <a:r>
              <a:rPr dirty="0"/>
              <a:t>Primary Insight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IN-NORTH</a:t>
            </a:r>
          </a:p>
          <a:p>
            <a:pPr>
              <a:spcBef>
                <a:spcPts val="200"/>
              </a:spcBef>
              <a:defRPr sz="900">
                <a:solidFill>
                  <a:srgbClr val="CDE7D8"/>
                </a:solidFill>
                <a:latin typeface="Aptos"/>
              </a:defRPr>
            </a:pPr>
            <a:r>
              <a:rPr dirty="0"/>
              <a:t>Highest modeled region at 9,638.22 kgCO2e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88194" y="4402495"/>
            <a:ext cx="3337560" cy="1280160"/>
          </a:xfrm>
          <a:prstGeom prst="round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CDE7D8"/>
                </a:solidFill>
                <a:latin typeface="Aptos"/>
              </a:defRPr>
            </a:pPr>
            <a:r>
              <a:t>Peak Facility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Facility 00000015</a:t>
            </a:r>
          </a:p>
          <a:p>
            <a:pPr>
              <a:spcBef>
                <a:spcPts val="200"/>
              </a:spcBef>
              <a:defRPr sz="900">
                <a:solidFill>
                  <a:srgbClr val="CDE7D8"/>
                </a:solidFill>
                <a:latin typeface="Aptos"/>
              </a:defRPr>
            </a:pPr>
            <a:r>
              <a:t>2,006.05 kgCO2e total footprint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00800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6F0E8"/>
                </a:solidFill>
              </a:defRPr>
            </a:pPr>
            <a:r>
              <a:t>GreenTrace | ESG Data Vault 2.0 | 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1A2922"/>
                </a:solidFill>
                <a:latin typeface="Aptos Display"/>
              </a:defRPr>
            </a:pPr>
            <a:r>
              <a:t>Problem Statement and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5A6F65"/>
                </a:solidFill>
                <a:latin typeface="Aptos"/>
              </a:defRPr>
            </a:pPr>
            <a:r>
              <a:t>Why this system was designed and what it resolves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566160" cy="2455232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rPr dirty="0"/>
              <a:t>Research Problem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rPr sz="1200" dirty="0"/>
              <a:t>Enterprise ESG data is typically distributed across heterogeneous operational records, which weakens traceability, slows reconciliation, and reduces reporting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566160" cy="2455232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rPr sz="1500" dirty="0"/>
              <a:t>Technical Objective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rPr sz="1200" dirty="0"/>
              <a:t>Design a scalable warehouse using Data Vault 2.0, automate transformation and emission computation, and expose analytical access through a secure service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520440" cy="2455232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rPr dirty="0"/>
              <a:t>Delivered Capability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rPr sz="1200" dirty="0"/>
              <a:t>Green</a:t>
            </a:r>
            <a:r>
              <a:rPr lang="en-US" sz="1200" dirty="0"/>
              <a:t> </a:t>
            </a:r>
            <a:r>
              <a:rPr sz="1200" dirty="0"/>
              <a:t>Trace consolidates ESG entities, preserves historization and lineage, derives Scope 2 and Scope 3 metrics, and presents them through an interactive analytical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54831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A2922"/>
                </a:solidFill>
                <a:latin typeface="Aptos"/>
              </a:defRPr>
            </a:pPr>
            <a:r>
              <a:rPr sz="2000" dirty="0"/>
              <a:t>Business goal: make sustainability reporting traceable, comparable, and analytically defensible.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A2922"/>
                </a:solidFill>
                <a:latin typeface="Aptos"/>
              </a:defRPr>
            </a:pPr>
            <a:r>
              <a:rPr sz="2000" dirty="0"/>
              <a:t>System goal: separate warehousing, business logic, reporting, and user interaction into disciplined architectural layers.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A2922"/>
                </a:solidFill>
                <a:latin typeface="Aptos"/>
              </a:defRPr>
            </a:pPr>
            <a:r>
              <a:rPr sz="2000" dirty="0"/>
              <a:t>Academic goal: demonstrate database management, warehousing, ETL engineering, visualization, and system integration within one coherent implementation.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00800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F65"/>
                </a:solidFill>
              </a:defRPr>
            </a:pPr>
            <a:r>
              <a:t>GreenTrace | Project framing and expected value |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1A2922"/>
                </a:solidFill>
                <a:latin typeface="Aptos Display"/>
              </a:defRPr>
            </a:pPr>
            <a:r>
              <a:t>Warehouse Scope and Structural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5A6F65"/>
                </a:solidFill>
                <a:latin typeface="Aptos"/>
              </a:defRPr>
            </a:pPr>
            <a:r>
              <a:t>The implemented model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2057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rPr dirty="0"/>
              <a:t>Warehouse Tables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rPr dirty="0"/>
              <a:t>22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rPr dirty="0"/>
              <a:t>Implemented across all logical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554480"/>
            <a:ext cx="2057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t>Facilities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t>25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t>Modeled organizational units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554480"/>
            <a:ext cx="2057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rPr dirty="0"/>
              <a:t>Meters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rPr dirty="0"/>
              <a:t>100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rPr dirty="0"/>
              <a:t>Granular energy capture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554480"/>
            <a:ext cx="25603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t>Reporting Window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t>2026 Q1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t>Current analytical snapshot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554480"/>
            <a:ext cx="15544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t>Rows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t>5,286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t>Validated warehouse rows</a:t>
            </a:r>
          </a:p>
        </p:txBody>
      </p:sp>
      <p:pic>
        <p:nvPicPr>
          <p:cNvPr id="10" name="Picture 9" descr="schema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34640"/>
            <a:ext cx="4937760" cy="26690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7880" y="2880360"/>
            <a:ext cx="5486400" cy="29260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t>Core business entities include facilities, suppliers, meters, shipments, carbon credits, and reporting periods.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t>The current model covers 25 facilities, 100 meters, 12 suppliers, 40 logistics records, and 10 carbon-credit assets.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t>The schema is distributed across hubs, links, satellites, Business Vault tables, ledger tables, a reporting mart, and lineage metadata.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t>This structure supports scalability, historization, referential clarity, and downstream analytical reproducibility.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00800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F65"/>
                </a:solidFill>
              </a:defRPr>
            </a:pPr>
            <a:r>
              <a:t>GreenTrace | Dataset profiling and schema footprint |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91B43A50-A05F-98D3-C606-5C3904D97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8099"/>
            <a:ext cx="12192001" cy="680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06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1A2922"/>
                </a:solidFill>
                <a:latin typeface="Aptos Display"/>
              </a:defRPr>
            </a:pPr>
            <a:r>
              <a:t>Database Management Design and 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5A6F65"/>
                </a:solidFill>
                <a:latin typeface="Aptos"/>
              </a:defRPr>
            </a:pPr>
            <a:r>
              <a:t>Harsh's major contribution: schema discipline and data-quality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85216"/>
            <a:ext cx="1920240" cy="365760"/>
          </a:xfrm>
          <a:prstGeom prst="roundRect">
            <a:avLst/>
          </a:prstGeom>
          <a:solidFill>
            <a:srgbClr val="CD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23024"/>
                </a:solidFill>
                <a:latin typeface="Aptos"/>
              </a:defRPr>
            </a:pPr>
            <a:r>
              <a:rPr dirty="0"/>
              <a:t>Led by Harsh</a:t>
            </a:r>
            <a:r>
              <a:rPr lang="en-US" dirty="0"/>
              <a:t>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532120" cy="347472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t>The schema follows Data Vault 2.0 principles so each business concept is allocated to the correct structural layer.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t>Hubs preserve stable business identifiers such as facility, supplier, meter, shipment, carbon credit, and reporting period.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t>Links encode many-to-many business relationships such as facility-to-meter and shipment-to-supplier-to-facility.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t>Satellites retain descriptive context and temporal variation using load timestamp, record source, and hashdiff columns.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t>Data-quality work included duplicate elimination, null-handling, value normalization, and key-consistency validation before warehouse loading.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9164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Hub Examples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Facility, Supplier, Meter, Shipment, Carbon Credit, Reporting Period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69164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Link Examples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Facility-Meter, Facility-Period, Shipment-Supplier-Facility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0" y="1691640"/>
            <a:ext cx="1234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Satellites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Attributes, readings, activity, manual ESG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246120"/>
            <a:ext cx="5074920" cy="1554480"/>
          </a:xfrm>
          <a:prstGeom prst="roundRect">
            <a:avLst/>
          </a:prstGeom>
          <a:solidFill>
            <a:srgbClr val="EBF5E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Design Strengths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Primary keys, foreign keys, indexes, and hashed identifiers make the schema scalable and auditable. The SQL schema script is idempotent, so the design can be recreated cleanly for repeated demonstrations.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5074920"/>
            <a:ext cx="5074920" cy="868680"/>
          </a:xfrm>
          <a:prstGeom prst="roundRect">
            <a:avLst/>
          </a:prstGeom>
          <a:solidFill>
            <a:srgbClr val="D97A43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Why this matters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Strong schema design reduced downstream ETL complexity and improved auditability, reporting clarity, and service-layer stability.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00800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F65"/>
                </a:solidFill>
              </a:defRPr>
            </a:pPr>
            <a:r>
              <a:t>GreenTrace | Database design and cleaning ownership | 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6B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1A2922"/>
                </a:solidFill>
                <a:latin typeface="Aptos Display"/>
              </a:defRPr>
            </a:pPr>
            <a:r>
              <a:t>Database Warehousing and ETL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5A6F65"/>
                </a:solidFill>
                <a:latin typeface="Aptos"/>
              </a:defRPr>
            </a:pPr>
            <a:r>
              <a:t>Rachit's major contribution: repeatable loading, validation, and warehouse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85216"/>
            <a:ext cx="1920240" cy="365760"/>
          </a:xfrm>
          <a:prstGeom prst="roundRect">
            <a:avLst/>
          </a:prstGeom>
          <a:solidFill>
            <a:srgbClr val="CD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23024"/>
                </a:solidFill>
                <a:latin typeface="Aptos"/>
              </a:defRPr>
            </a:pPr>
            <a:r>
              <a:rPr dirty="0"/>
              <a:t>Led by Rachit</a:t>
            </a:r>
            <a:r>
              <a:rPr lang="en-US" dirty="0"/>
              <a:t>h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623560" cy="329184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dirty="0"/>
              <a:t>The ETL pipeline ingests tabular records, materializes them as Data</a:t>
            </a:r>
            <a:r>
              <a:rPr lang="en-US" dirty="0"/>
              <a:t> </a:t>
            </a:r>
            <a:r>
              <a:rPr dirty="0"/>
              <a:t>Frames, and loads them into MySQL through SQL</a:t>
            </a:r>
            <a:r>
              <a:rPr lang="en-US" dirty="0"/>
              <a:t> </a:t>
            </a:r>
            <a:r>
              <a:rPr dirty="0"/>
              <a:t>Alchemy.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dirty="0"/>
              <a:t>A dependency-aware load order ensures that reference tables and hubs are loaded before links, satellites, and downstream analytical layers.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dirty="0"/>
              <a:t>The execution flow supports clean reruns, which strengthens reproducibility during testing, validation, and presentation.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dirty="0"/>
              <a:t>After each table load, row-count verification ensures that the warehouse state remains quantitatively consistent.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dirty="0"/>
              <a:t>The current execution processed 5,286 rows across the implemented 22-table warehouse.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8308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Extract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Acquire structured records for warehouse processing.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78308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Transform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Normalize types, resolve anomalies, and align to schema.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178308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Load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Insert into MySQL and verify quantitative integrity.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38160" y="2331720"/>
            <a:ext cx="274320" cy="0"/>
          </a:xfrm>
          <a:prstGeom prst="line">
            <a:avLst/>
          </a:prstGeom>
          <a:ln w="31750">
            <a:solidFill>
              <a:srgbClr val="1B4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58400" y="2331720"/>
            <a:ext cx="274320" cy="0"/>
          </a:xfrm>
          <a:prstGeom prst="line">
            <a:avLst/>
          </a:prstGeom>
          <a:ln w="31750">
            <a:solidFill>
              <a:srgbClr val="1B4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92240" y="3246120"/>
            <a:ext cx="5074920" cy="1600200"/>
          </a:xfrm>
          <a:prstGeom prst="roundRect">
            <a:avLst/>
          </a:prstGeom>
          <a:solidFill>
            <a:srgbClr val="EBF5E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Warehousing Outcome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The warehouse now separates ingestion, persistence, and analytical consumption. This improves consistency, preserves structural integrity, and establishes a stable platform for downstream computation and APIs.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074920"/>
            <a:ext cx="5074920" cy="868680"/>
          </a:xfrm>
          <a:prstGeom prst="roundRect">
            <a:avLst/>
          </a:prstGeom>
          <a:solidFill>
            <a:srgbClr val="1B4A3A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Validation Result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CDE7D8"/>
                </a:solidFill>
                <a:latin typeface="Aptos"/>
              </a:defRPr>
            </a:pPr>
            <a:r>
              <a:t>No row mismatches were accepted during ETL loading.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00800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F65"/>
                </a:solidFill>
              </a:defRPr>
            </a:pPr>
            <a:r>
              <a:t>GreenTrace | ETL pipeline and warehousing discipline | 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1A2922"/>
                </a:solidFill>
                <a:latin typeface="Aptos Display"/>
              </a:defRPr>
            </a:pPr>
            <a:r>
              <a:t>Business Vault, Carbon Ledger, Data Mart, and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5A6F65"/>
                </a:solidFill>
                <a:latin typeface="Aptos"/>
              </a:defRPr>
            </a:pPr>
            <a:r>
              <a:t>Where raw warehouse data becomes analytical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1691640"/>
            <a:ext cx="5486400" cy="361188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A2922"/>
                </a:solidFill>
                <a:latin typeface="Aptos"/>
              </a:defRPr>
            </a:pPr>
            <a:r>
              <a:t>Business Vault logic computes emissions as derived analytical facts rather than storing them as base warehouse entities.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A2922"/>
                </a:solidFill>
                <a:latin typeface="Aptos"/>
              </a:defRPr>
            </a:pPr>
            <a:r>
              <a:t>Scope 2 formulation: CO2 = kWh x emission_factor using meter readings and region-specific coefficients.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A2922"/>
                </a:solidFill>
                <a:latin typeface="Aptos"/>
              </a:defRPr>
            </a:pPr>
            <a:r>
              <a:t>Scope 3 formulation: CO2 = fuel_used_l x emission_factor using logistics activity and fuel-type coefficients.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A2922"/>
                </a:solidFill>
                <a:latin typeface="Aptos"/>
              </a:defRPr>
            </a:pPr>
            <a:r>
              <a:t>Computed event volume: 2,400 Scope 2 rows and 40 Scope 3 rows.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A2922"/>
                </a:solidFill>
                <a:latin typeface="Aptos"/>
              </a:defRPr>
            </a:pPr>
            <a:r>
              <a:t>The carbon ledger is designed around ISSUE and RETIRE transactions so credit balances can prevent double counting.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A2922"/>
                </a:solidFill>
                <a:latin typeface="Aptos"/>
              </a:defRPr>
            </a:pPr>
            <a:r>
              <a:t>The data mart aggregates facility-period emissions, while lineage metadata is designed to preserve transformation traceability across the analytical stack.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553212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Scope 2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40.27 tCO2e</a:t>
            </a:r>
            <a:br/>
            <a:r>
              <a:t>94.6%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7204" y="553212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Scope 3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2.28 tCO2e</a:t>
            </a:r>
            <a:br/>
            <a:r>
              <a:t>5.4%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4322" y="5532120"/>
            <a:ext cx="2057400" cy="914400"/>
          </a:xfrm>
          <a:prstGeom prst="roundRect">
            <a:avLst/>
          </a:prstGeom>
          <a:solidFill>
            <a:srgbClr val="D97A43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Peak Interval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rPr dirty="0"/>
              <a:t>03:00 with 1,785.31 kgCO2e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29391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F65"/>
                </a:solidFill>
              </a:defRPr>
            </a:pPr>
            <a:r>
              <a:t>GreenTrace | Business computation and audit layers | Slide 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E45666-DF6B-9676-2B30-6F83681CF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58" y="1662420"/>
            <a:ext cx="4846554" cy="48548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6F0E8"/>
                </a:solidFill>
                <a:latin typeface="Aptos Display"/>
              </a:defRPr>
            </a:pPr>
            <a:r>
              <a:t>Backend Services and Security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CDE7D8"/>
                </a:solidFill>
                <a:latin typeface="Aptos"/>
              </a:defRPr>
            </a:pPr>
            <a:r>
              <a:t>Service-layer delivery with explicit control, validation, and operational safeguards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85216"/>
            <a:ext cx="1920240" cy="365760"/>
          </a:xfrm>
          <a:prstGeom prst="round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Backend +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846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CDE7D8"/>
                </a:solidFill>
                <a:latin typeface="Aptos"/>
              </a:defRPr>
            </a:pPr>
            <a:r>
              <a:t>Backend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54303"/>
            <a:ext cx="5394960" cy="219456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6F0E8"/>
                </a:solidFill>
                <a:latin typeface="Aptos"/>
              </a:defRPr>
            </a:pPr>
            <a:r>
              <a:rPr dirty="0"/>
              <a:t>Flask delivers the presentation interface and exposes APIs for health checks, analytical retrieval, facility updates, and controlled SQL execution.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6F0E8"/>
                </a:solidFill>
                <a:latin typeface="Aptos"/>
              </a:defRPr>
            </a:pPr>
            <a:r>
              <a:rPr dirty="0" err="1"/>
              <a:t>SQLAlchemy</a:t>
            </a:r>
            <a:r>
              <a:rPr dirty="0"/>
              <a:t> manages the transactional connection layer to MySQL.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6F0E8"/>
                </a:solidFill>
                <a:latin typeface="Aptos"/>
              </a:defRPr>
            </a:pPr>
            <a:r>
              <a:rPr dirty="0"/>
              <a:t>The service layer can read from the live warehouse or fall back to a static analytical snapshot when connectivity is unavailable.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6F0E8"/>
                </a:solidFill>
                <a:latin typeface="Aptos"/>
              </a:defRPr>
            </a:pPr>
            <a:r>
              <a:rPr dirty="0"/>
              <a:t>Server-Sent Events support lightweight state refresh without requiring a full-page reload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846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1">
                <a:solidFill>
                  <a:srgbClr val="CDE7D8"/>
                </a:solidFill>
                <a:latin typeface="Aptos"/>
              </a:defRPr>
            </a:pPr>
            <a:r>
              <a:t>Security checks implemented in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74519"/>
            <a:ext cx="5166360" cy="292608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6F0E8"/>
                </a:solidFill>
                <a:latin typeface="Aptos"/>
              </a:defRPr>
            </a:pPr>
            <a:r>
              <a:t>Strict response headers: Content Security Policy, X-Frame-Options, X-Content-Type-Options, Referrer-Policy, and Permissions-Policy.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6F0E8"/>
                </a:solidFill>
                <a:latin typeface="Aptos"/>
              </a:defRPr>
            </a:pPr>
            <a:r>
              <a:t>Per-session write token is required for any modifying request.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6F0E8"/>
                </a:solidFill>
                <a:latin typeface="Aptos"/>
              </a:defRPr>
            </a:pPr>
            <a:r>
              <a:t>Origin and Referer checks block cross-origin write operations.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6F0E8"/>
                </a:solidFill>
                <a:latin typeface="Aptos"/>
              </a:defRPr>
            </a:pPr>
            <a:r>
              <a:t>SQL console is limited to one statement and only allows SELECT, INSERT, UPDATE, and DELETE.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6F0E8"/>
                </a:solidFill>
                <a:latin typeface="Aptos"/>
              </a:defRPr>
            </a:pPr>
            <a:r>
              <a:t>Disallowed keywords such as DROP, ALTER, TRUNCATE, CREATE, GRANT, and REVOKE are blocked.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6F0E8"/>
                </a:solidFill>
                <a:latin typeface="Aptos"/>
              </a:defRPr>
            </a:pPr>
            <a:r>
              <a:t>Facility edit inputs are validated for hash IDs, country format, field length, and grid-region characters.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" y="5061817"/>
            <a:ext cx="4800600" cy="1051560"/>
          </a:xfrm>
          <a:prstGeom prst="roundRect">
            <a:avLst/>
          </a:prstGeom>
          <a:solidFill>
            <a:srgbClr val="1B4A3A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Backend APIs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CDE7D8"/>
                </a:solidFill>
                <a:latin typeface="Aptos"/>
              </a:defRPr>
            </a:pPr>
            <a:r>
              <a:t>/api/health | /api/live-data | /api/live-events | /api/editor/facilities | /api/sql/execute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665" y="5061817"/>
            <a:ext cx="5166360" cy="1051560"/>
          </a:xfrm>
          <a:prstGeom prst="roundRect">
            <a:avLst/>
          </a:prstGeom>
          <a:solidFill>
            <a:srgbClr val="D97A43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Security outcome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The system does not treat visualization as sufficient; it also constrains write operations, validates user input, and reduces unsafe interaction paths.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00800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6F0E8"/>
                </a:solidFill>
              </a:defRPr>
            </a:pPr>
            <a:r>
              <a:t>GreenTrace | Backend integration and security review | 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1A2922"/>
                </a:solidFill>
                <a:latin typeface="Aptos Display"/>
              </a:defRPr>
            </a:pPr>
            <a:r>
              <a:t>Frontend Design and Visualization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5A6F65"/>
                </a:solidFill>
                <a:latin typeface="Aptos"/>
              </a:defRPr>
            </a:pPr>
            <a:r>
              <a:t>Ullas's major contribution: translating warehouse metrics into a coherent analytical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585216"/>
            <a:ext cx="1920240" cy="365760"/>
          </a:xfrm>
          <a:prstGeom prst="roundRect">
            <a:avLst/>
          </a:prstGeom>
          <a:solidFill>
            <a:srgbClr val="CD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23024"/>
                </a:solidFill>
                <a:latin typeface="Aptos"/>
              </a:defRPr>
            </a:pPr>
            <a:r>
              <a:t>Led by Ullas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Overview Page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A cinematic landing page introduces the project, key metrics, architecture layers, and story flow for presentation-ready explanation.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290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Dashboard Page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Displays KPIs, regional comparisons, facility rankings, emission pulse over time, vehicle mix, and supplier sectors in one analytical cockpit.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1663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Architecture Page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Explains the system narrative, phase timeline, schema density, and example analyst queries.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6629400" cy="256032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dirty="0"/>
              <a:t>The frontend is implemented using HTML, CSS, and JavaScript rather than relying on an external dashboard framework.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dirty="0"/>
              <a:t>Animated counters, reveal transitions, charts, and card-based summaries make the analytical narrative easier to communicate during a technical presentation.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dirty="0"/>
              <a:t>Facility leaders, regional totals, and operational composition views are grounded in warehouse-derived metrics rather than illustrative placeholders.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dirty="0"/>
              <a:t>A live studio overlay enables controlled interaction for refresh, attribute update, and analytical query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5084064"/>
            <a:ext cx="3063240" cy="1371600"/>
          </a:xfrm>
          <a:prstGeom prst="roundRect">
            <a:avLst/>
          </a:prstGeom>
          <a:solidFill>
            <a:srgbClr val="EBF5E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rPr dirty="0"/>
              <a:t>Design Goal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rPr dirty="0"/>
              <a:t>Increase interpretability without abstracting away the genuine warehouse and service-layer complexity.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084064"/>
            <a:ext cx="3383280" cy="1371600"/>
          </a:xfrm>
          <a:prstGeom prst="roundRect">
            <a:avLst/>
          </a:prstGeom>
          <a:solidFill>
            <a:srgbClr val="D97A43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Visualization Goal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t>Present emissions, regional distribution, facility ranking, and system architecture in a format suitable for viva defense and live demonstration.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29388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F65"/>
                </a:solidFill>
              </a:defRPr>
            </a:pPr>
            <a:r>
              <a:t>GreenTrace | Frontend ownership and user experience layer | 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6B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1A2922"/>
                </a:solidFill>
                <a:latin typeface="Aptos Display"/>
              </a:defRPr>
            </a:pPr>
            <a:r>
              <a:t>Frontend-Backend Integration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5A6F65"/>
                </a:solidFill>
                <a:latin typeface="Aptos"/>
              </a:defRPr>
            </a:pPr>
            <a:r>
              <a:t>How the interface remains synchronized with the analytical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Frontend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Dashboard pages, live studio controls, charts, and visual storytelling.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920240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Flask API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Routes return JSON for health, live data, editor rows, and controlled SQL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920240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Warehouse Access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SQLAlchemy reads from MySQL and writes new satellite versions when permitted.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920240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1A2922"/>
                </a:solidFill>
                <a:latin typeface="Aptos Display"/>
              </a:defRPr>
            </a:pPr>
            <a:r>
              <a:t>Live Refresh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5A6F65"/>
                </a:solidFill>
                <a:latin typeface="Aptos"/>
              </a:defRPr>
            </a:pPr>
            <a:r>
              <a:t>EventSource and refresh controls trigger UI updates without full application reloads.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60" y="1920240"/>
            <a:ext cx="1828800" cy="1325880"/>
          </a:xfrm>
          <a:prstGeom prst="roundRect">
            <a:avLst/>
          </a:prstGeom>
          <a:solidFill>
            <a:srgbClr val="D97A43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User Feedback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CDE7D8"/>
                </a:solidFill>
                <a:latin typeface="Aptos"/>
              </a:defRPr>
            </a:pPr>
            <a:r>
              <a:t>Status badges, query feedback, and refreshed visuals confirm each action.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560320"/>
            <a:ext cx="365760" cy="0"/>
          </a:xfrm>
          <a:prstGeom prst="line">
            <a:avLst/>
          </a:prstGeom>
          <a:ln w="31750">
            <a:solidFill>
              <a:srgbClr val="1B4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00600" y="2560320"/>
            <a:ext cx="365760" cy="0"/>
          </a:xfrm>
          <a:prstGeom prst="line">
            <a:avLst/>
          </a:prstGeom>
          <a:ln w="31750">
            <a:solidFill>
              <a:srgbClr val="1B4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2560320"/>
            <a:ext cx="365760" cy="0"/>
          </a:xfrm>
          <a:prstGeom prst="line">
            <a:avLst/>
          </a:prstGeom>
          <a:ln w="31750">
            <a:solidFill>
              <a:srgbClr val="1B4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72600" y="2560320"/>
            <a:ext cx="365760" cy="0"/>
          </a:xfrm>
          <a:prstGeom prst="line">
            <a:avLst/>
          </a:prstGeom>
          <a:ln w="31750">
            <a:solidFill>
              <a:srgbClr val="1B4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160520"/>
            <a:ext cx="10972800" cy="164592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A2922"/>
                </a:solidFill>
                <a:latin typeface="Aptos"/>
              </a:defRPr>
            </a:pPr>
            <a:r>
              <a:t>A facility update writes a new satellite version to sat_facility_attr, thereby preserving historization semantics.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A2922"/>
                </a:solidFill>
                <a:latin typeface="Aptos"/>
              </a:defRPr>
            </a:pPr>
            <a:r>
              <a:t>The SQL console is deliberately constrained, so the integration supports demonstration-oriented interaction while still respecting security controls.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1A2922"/>
                </a:solidFill>
                <a:latin typeface="Aptos"/>
              </a:defRPr>
            </a:pPr>
            <a:r>
              <a:t>This integration is academically important because the project is implemented as a connected analytical system rather than as disconnected warehouse and dashboard components.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00800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F65"/>
                </a:solidFill>
              </a:defRPr>
            </a:pPr>
            <a:r>
              <a:t>GreenTrace | Integration between UI, API, and warehouse | 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1A2922"/>
                </a:solidFill>
                <a:latin typeface="Aptos Display"/>
              </a:defRPr>
            </a:pPr>
            <a:r>
              <a:t>Key Results and Analytical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5A6F65"/>
                </a:solidFill>
                <a:latin typeface="Aptos"/>
              </a:defRPr>
            </a:pPr>
            <a:r>
              <a:t>What the current GreenTrace snapshot reveals</a:t>
            </a:r>
          </a:p>
        </p:txBody>
      </p:sp>
      <p:pic>
        <p:nvPicPr>
          <p:cNvPr id="5" name="Picture 4" descr="region_tot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5623560" cy="277470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426464"/>
            <a:ext cx="23774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rPr dirty="0"/>
              <a:t>Total Emissions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rPr dirty="0"/>
              <a:t>42.55 tCO2e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rPr dirty="0"/>
              <a:t>Combined Scope 2 and Scope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426464"/>
            <a:ext cx="23774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t>Scope Split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t>94.6% / 5.4%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t>Scope 2 dominates the snapshot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24912"/>
            <a:ext cx="23774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t>Top Region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t>IN-NORTH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t>9,638.22 kgCO2e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724912"/>
            <a:ext cx="23774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rPr dirty="0"/>
              <a:t>Peak Interval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rPr dirty="0"/>
              <a:t>03:00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rPr dirty="0"/>
              <a:t>1,785.31 kgCO2e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242367"/>
              </p:ext>
            </p:extLst>
          </p:nvPr>
        </p:nvGraphicFramePr>
        <p:xfrm>
          <a:off x="6400800" y="4023360"/>
          <a:ext cx="50749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B4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Facility</a:t>
                      </a:r>
                    </a:p>
                  </a:txBody>
                  <a:tcPr>
                    <a:solidFill>
                      <a:srgbClr val="1B4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B4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kgCO2e</a:t>
                      </a:r>
                    </a:p>
                  </a:txBody>
                  <a:tcPr>
                    <a:solidFill>
                      <a:srgbClr val="1B4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F-00000015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IN-NORTH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2,006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F-00000005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IN-NORTH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1,997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F-00000025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IN-NORTH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rPr dirty="0"/>
                        <a:t>1,934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F-00000003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IN-EAST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1,895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t>F-00000008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rPr dirty="0"/>
                        <a:t>IN-EAST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2922"/>
                          </a:solidFill>
                          <a:latin typeface="Aptos"/>
                        </a:defRPr>
                      </a:pPr>
                      <a:r>
                        <a:rPr dirty="0"/>
                        <a:t>1,891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400800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F65"/>
                </a:solidFill>
              </a:defRPr>
            </a:pPr>
            <a:r>
              <a:t>GreenTrace | Snapshot metrics and top performers | 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6F0E8"/>
                </a:solidFill>
                <a:latin typeface="Aptos Display"/>
              </a:defRPr>
            </a:pPr>
            <a:r>
              <a:t>Team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CDE7D8"/>
                </a:solidFill>
                <a:latin typeface="Aptos"/>
              </a:defRPr>
            </a:pPr>
            <a:r>
              <a:t>Role allocation across the project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2651760" cy="2926080"/>
          </a:xfrm>
          <a:prstGeom prst="roundRect">
            <a:avLst/>
          </a:prstGeom>
          <a:solidFill>
            <a:srgbClr val="1B4A3A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Harsh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CDE7D8"/>
                </a:solidFill>
                <a:latin typeface="Aptos"/>
              </a:defRPr>
            </a:pPr>
            <a:r>
              <a:t>Database management design, schema structuring, and pre-load data-quality refinement.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737360"/>
            <a:ext cx="2651760" cy="2926080"/>
          </a:xfrm>
          <a:prstGeom prst="roundRect">
            <a:avLst/>
          </a:prstGeom>
          <a:solidFill>
            <a:srgbClr val="1B4A3A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Rachit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CDE7D8"/>
                </a:solidFill>
                <a:latin typeface="Aptos"/>
              </a:defRPr>
            </a:pPr>
            <a:r>
              <a:t>Warehouse implementation, ETL orchestration, MySQL integration, backend APIs, and system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2651760" cy="2926080"/>
          </a:xfrm>
          <a:prstGeom prst="roundRect">
            <a:avLst/>
          </a:prstGeom>
          <a:solidFill>
            <a:srgbClr val="1B4A3A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Ullas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CDE7D8"/>
                </a:solidFill>
                <a:latin typeface="Aptos"/>
              </a:defRPr>
            </a:pPr>
            <a:r>
              <a:t>Frontend design, visualization composition, interaction flow, and presentation-oriented interface 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737360"/>
            <a:ext cx="2240280" cy="2926080"/>
          </a:xfrm>
          <a:prstGeom prst="roundRect">
            <a:avLst/>
          </a:prstGeom>
          <a:solidFill>
            <a:srgbClr val="D97A43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Rahul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FFFFFF"/>
                </a:solidFill>
                <a:latin typeface="Aptos"/>
              </a:defRPr>
            </a:pPr>
            <a:r>
              <a:rPr dirty="0"/>
              <a:t>Documentation review, presentation formatting support, and </a:t>
            </a:r>
            <a:r>
              <a:rPr lang="en-US" dirty="0"/>
              <a:t>introducing the project for us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983480"/>
            <a:ext cx="10972800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F6F0E8"/>
                </a:solidFill>
                <a:latin typeface="Aptos"/>
              </a:defRPr>
            </a:pPr>
            <a:r>
              <a:t>Integration and security hardening were consolidated during the final stage to connect the warehouse, service layer, and frontend into one controlled analytical workflow.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F6F0E8"/>
                </a:solidFill>
                <a:latin typeface="Aptos"/>
              </a:defRPr>
            </a:pPr>
            <a:r>
              <a:t>This division of work allowed the project to progress in clearly separated phases without destabilizing the overall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00800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6F0E8"/>
                </a:solidFill>
              </a:defRPr>
            </a:pPr>
            <a:r>
              <a:t>GreenTrace | Ownership and collaboration summary | Slide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97840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1A2922"/>
                </a:solidFill>
                <a:latin typeface="Aptos Display"/>
              </a:defRPr>
            </a:pPr>
            <a:r>
              <a:t>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9875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5A6F65"/>
                </a:solidFill>
                <a:latin typeface="Aptos"/>
              </a:defRPr>
            </a:pPr>
            <a:r>
              <a:t>What this project demonstrates and where it can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63049"/>
            <a:ext cx="6400800" cy="3931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sz="1550" dirty="0" err="1"/>
              <a:t>GreenTrace</a:t>
            </a:r>
            <a:r>
              <a:rPr sz="1550" dirty="0"/>
              <a:t> demonstrates that a Data Vault 2.0 warehouse can be used not only for storage, but also for computation, auditing, and user-facing analytics.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sz="1550" dirty="0"/>
              <a:t>The project combines database management, warehousing, ETL engineering, backend services, visualization, system integration, and security assurance in one coherent delivery.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sz="1550" dirty="0"/>
              <a:t>The current implementation already models real ESG entities and emissions; future work can extend it into a broader enterprise sustainability platform.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1A2922"/>
                </a:solidFill>
                <a:latin typeface="Aptos"/>
              </a:defRPr>
            </a:pPr>
            <a:r>
              <a:rPr sz="1550" dirty="0"/>
              <a:t>Suggested future enhancements: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A2922"/>
                </a:solidFill>
                <a:latin typeface="Aptos"/>
              </a:defRPr>
            </a:pPr>
            <a:r>
              <a:rPr sz="1550" dirty="0"/>
              <a:t>Populate manual ESG metrics and add Scope 1 calculations.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A2922"/>
                </a:solidFill>
                <a:latin typeface="Aptos"/>
              </a:defRPr>
            </a:pPr>
            <a:r>
              <a:rPr sz="1550" dirty="0"/>
              <a:t>Expand the carbon ledger into full credit retirement workflows tied to facilities and reporting periods.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A2922"/>
                </a:solidFill>
                <a:latin typeface="Aptos"/>
              </a:defRPr>
            </a:pPr>
            <a:r>
              <a:rPr sz="1550" dirty="0"/>
              <a:t>Strengthen lineage playback, deployment automation, and role-based authentication.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1A2922"/>
                </a:solidFill>
                <a:latin typeface="Aptos"/>
              </a:defRPr>
            </a:pPr>
            <a:r>
              <a:rPr sz="1550" dirty="0"/>
              <a:t>Add automated testing for ETL, API validation, and dashboard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828800"/>
            <a:ext cx="3657600" cy="1234440"/>
          </a:xfrm>
          <a:prstGeom prst="roundRect">
            <a:avLst/>
          </a:prstGeom>
          <a:solidFill>
            <a:srgbClr val="1B4A3A"/>
          </a:solidFill>
          <a:ln>
            <a:solidFill>
              <a:srgbClr val="D5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Final Takeaway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CDE7D8"/>
                </a:solidFill>
                <a:latin typeface="Aptos"/>
              </a:defRPr>
            </a:pPr>
            <a:r>
              <a:t>GreenTrace is not just a report. It is a connected data product that turns raw ESG data into structured, explainable, and secure carbon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3474720"/>
            <a:ext cx="1691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t>Facilities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t>25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t>Tracked in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3474720"/>
            <a:ext cx="1691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t>Meters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t>100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t>Energy capture 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754880"/>
            <a:ext cx="1691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t>Shipments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t>40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t>Scope 3 activity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4754880"/>
            <a:ext cx="1691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00" b="1">
                <a:solidFill>
                  <a:srgbClr val="5A6F65"/>
                </a:solidFill>
                <a:latin typeface="Aptos"/>
              </a:defRPr>
            </a:pPr>
            <a:r>
              <a:t>Credits</a:t>
            </a:r>
          </a:p>
          <a:p>
            <a:pPr>
              <a:spcBef>
                <a:spcPts val="200"/>
              </a:spcBef>
              <a:defRPr sz="2200" b="1">
                <a:solidFill>
                  <a:srgbClr val="1A2922"/>
                </a:solidFill>
                <a:latin typeface="Aptos Display"/>
              </a:defRPr>
            </a:pPr>
            <a:r>
              <a:t>10</a:t>
            </a:r>
          </a:p>
          <a:p>
            <a:pPr>
              <a:spcBef>
                <a:spcPts val="200"/>
              </a:spcBef>
              <a:defRPr sz="900">
                <a:solidFill>
                  <a:srgbClr val="5A6F65"/>
                </a:solidFill>
                <a:latin typeface="Aptos"/>
              </a:defRPr>
            </a:pPr>
            <a:r>
              <a:t>Carbon-credit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00800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F65"/>
                </a:solidFill>
              </a:defRPr>
            </a:pPr>
            <a:r>
              <a:t>GreenTrace | Closing slide | Slide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2034</Words>
  <Application>Microsoft Office PowerPoint</Application>
  <PresentationFormat>Widescreen</PresentationFormat>
  <Paragraphs>242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Rachith Bharadwaj T N</cp:lastModifiedBy>
  <cp:revision>4</cp:revision>
  <dcterms:created xsi:type="dcterms:W3CDTF">2013-01-27T09:14:16Z</dcterms:created>
  <dcterms:modified xsi:type="dcterms:W3CDTF">2026-03-29T19:37:23Z</dcterms:modified>
  <cp:category/>
</cp:coreProperties>
</file>